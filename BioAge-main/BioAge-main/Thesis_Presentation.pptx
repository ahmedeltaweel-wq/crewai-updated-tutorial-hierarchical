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3" d="100"/>
          <a:sy n="93" d="100"/>
        </p:scale>
        <p:origin x="520" y="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eltaweel" userId="671e6789-a4e4-4d29-a1ce-8f31a9262a76" providerId="ADAL" clId="{01D5104C-A5F9-472C-9851-B86CCE78001E}"/>
    <pc:docChg chg="custSel modSld">
      <pc:chgData name="Ahmed eltaweel" userId="671e6789-a4e4-4d29-a1ce-8f31a9262a76" providerId="ADAL" clId="{01D5104C-A5F9-472C-9851-B86CCE78001E}" dt="2025-12-08T15:00:55.132" v="1" actId="27636"/>
      <pc:docMkLst>
        <pc:docMk/>
      </pc:docMkLst>
      <pc:sldChg chg="modSp mod">
        <pc:chgData name="Ahmed eltaweel" userId="671e6789-a4e4-4d29-a1ce-8f31a9262a76" providerId="ADAL" clId="{01D5104C-A5F9-472C-9851-B86CCE78001E}" dt="2025-12-08T15:00:55.132" v="1" actId="27636"/>
        <pc:sldMkLst>
          <pc:docMk/>
          <pc:sldMk cId="0" sldId="271"/>
        </pc:sldMkLst>
        <pc:spChg chg="mod">
          <ac:chgData name="Ahmed eltaweel" userId="671e6789-a4e4-4d29-a1ce-8f31a9262a76" providerId="ADAL" clId="{01D5104C-A5F9-472C-9851-B86CCE78001E}" dt="2025-12-08T15:00:55.132" v="1" actId="27636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.com/" TargetMode="External"/><Relationship Id="rId2" Type="http://schemas.openxmlformats.org/officeDocument/2006/relationships/hyperlink" Target="https://marp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📊 عرض تقديمي للمناقشة (Thesis Presentation)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1: صفحة العنوان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تحسين التسعير الاكتواري باستخدام العمر البيولوجي والتعلم العميق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إعداد:</a:t>
            </a:r>
            <a:r>
              <a:t> أحمد الطويل </a:t>
            </a:r>
            <a:r>
              <a:rPr b="1"/>
              <a:t>إشراف:</a:t>
            </a:r>
            <a:r>
              <a:t> أ.د. عبد الهادي نبيه | أ.د. محمد رضا أبو نازل</a:t>
            </a:r>
          </a:p>
          <a:p>
            <a:pPr marL="0" lvl="0" indent="0">
              <a:buNone/>
            </a:pPr>
            <a:r>
              <a:t>كلية الدراسات العليا للبحوث الإحصائية جامعة القاهرة | ديسمبر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2: المشكلة البحثية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❌ ما المشكلة؟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شخص أ (رياضي، صحي)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شخص ب (مدخن، خامل)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عمره 50 سنة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عمره 50 سنة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يدفع نفس القسط!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يدفع نفس القسط!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 b="1"/>
              <a:t>الظلم الاكتواري:</a:t>
            </a:r>
            <a:r>
              <a:rPr sz="2000"/>
              <a:t> شركات التأمين تعامل الجميع كأنهم متشابهون!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3: الحل المقترح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✅ العمر البيولوجي بدلاً من الزمني</a:t>
            </a:r>
          </a:p>
          <a:p>
            <a:pPr lvl="0" indent="0">
              <a:buNone/>
            </a:pPr>
            <a:r>
              <a:rPr>
                <a:latin typeface="Courier"/>
              </a:rPr>
              <a:t>قسط التأمين = f(العمر البيولوجي) وليس f(تاريخ الميلاد)</a:t>
            </a:r>
          </a:p>
          <a:p>
            <a:pPr marL="0" lvl="0" indent="0">
              <a:buNone/>
            </a:pPr>
            <a:r>
              <a:rPr b="1"/>
              <a:t>المكونات:</a:t>
            </a:r>
            <a:r>
              <a:t> 1. 📊 بيانات NHANES (9 مؤشرات حيوية) 2. 🧮 معادلة PhenoAge (Levine 2018) 3. 🤖 نماذج التعلم العميق (DeepSurv)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4: المنهجية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خطوات العمل</a:t>
            </a:r>
          </a:p>
          <a:p>
            <a:pPr lvl="0" indent="0">
              <a:buNone/>
            </a:pPr>
            <a:r>
              <a:rPr>
                <a:latin typeface="Courier"/>
              </a:rPr>
              <a:t>graph LR
    A[NHANES Data] --&gt; B[PhenoAge Calc]
    B --&gt; C[Age Acceleration]
    C --&gt; D[Risk Scoring]
    D --&gt; E[Gini Analysis]</a:t>
            </a:r>
          </a:p>
          <a:p>
            <a:pPr marL="0" lvl="0" indent="0">
              <a:buNone/>
            </a:pPr>
            <a:r>
              <a:rPr b="1"/>
              <a:t>المعايرة:</a:t>
            </a:r>
            <a:r>
              <a:t> ضبط المتوسط = 0 (لا تحيز)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5: النتائج الرئيسية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🏆 الأرقام الذهبية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المؤشر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القيمة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الدلالة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معامل جيني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0.332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تحسن 50.9% عن التقليدي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C-Index (الأساس)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0.687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دقة على البيانات الحيوية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C-Index (المتوقع)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0.764</a:t>
                      </a:r>
                      <a: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*مع بيانات الساعات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حجم العينة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4,894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عينة قوية إحصائياً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6: مقارنة النماذج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أداء النماذج الثلاثة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النموذج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C-Index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التحسن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CoxPH (التقليدي)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XGBAge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+6.0%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DeepSurv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0.687-0.764</a:t>
                      </a:r>
                      <a: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+0% إلى +11.2%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ملاحظة: DeepSurv يحقق 0.687 على البيانات الحيوية فقط. الرقم 0.764 </a:t>
            </a:r>
            <a:r>
              <a:rPr b="1" i="1"/>
              <a:t>متوقع</a:t>
            </a:r>
            <a:r>
              <a:rPr i="1"/>
              <a:t> مع دمج بيانات الساعات الذكية.</a:t>
            </a:r>
          </a:p>
          <a:p>
            <a:pPr marL="1270000" lvl="0" indent="0">
              <a:buNone/>
            </a:pPr>
            <a:r>
              <a:rPr sz="2000"/>
              <a:t>DeepSurv يتفوق مع التكامل الكامل!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7: التطبيق العملي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إطار “MoveDiscount”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الفئة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تسارع العمر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الخصم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شباب متجدد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&lt; -5 سنة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-20%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طبيعي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±5 سنة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شيخوخة مبكرة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&gt; +5 سنة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+15%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الفائدة:</a:t>
            </a:r>
            <a:r>
              <a:t> حوافز للسلوك الصحي!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8: الإسهام العلمي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ما الجديد؟</a:t>
            </a:r>
          </a:p>
          <a:p>
            <a:pPr marL="342900" lvl="0" indent="-342900">
              <a:buAutoNum type="arabicPeriod"/>
            </a:pPr>
            <a:r>
              <a:t>✅ </a:t>
            </a:r>
            <a:r>
              <a:rPr b="1"/>
              <a:t>أول تحليل Gini اكتواري</a:t>
            </a:r>
            <a:r>
              <a:t> للعمر البيولوجي</a:t>
            </a:r>
          </a:p>
          <a:p>
            <a:pPr marL="342900" lvl="0" indent="-342900">
              <a:buAutoNum type="arabicPeriod"/>
            </a:pPr>
            <a:r>
              <a:t>✅ </a:t>
            </a:r>
            <a:r>
              <a:rPr b="1"/>
              <a:t>أول تطبيق لـ MoveAge</a:t>
            </a:r>
            <a:r>
              <a:t> في التسعير</a:t>
            </a:r>
          </a:p>
          <a:p>
            <a:pPr marL="342900" lvl="0" indent="-342900">
              <a:buAutoNum type="arabicPeriod"/>
            </a:pPr>
            <a:r>
              <a:t>✅ </a:t>
            </a:r>
            <a:r>
              <a:rPr b="1"/>
              <a:t>أول دراسة</a:t>
            </a:r>
            <a:r>
              <a:t> موجهة لسوق MENA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9: الجدوى الاقتصادية والاستدامة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💰 هل هذا مربح؟ (Profitability)</a:t>
            </a:r>
          </a:p>
          <a:p>
            <a:pPr marL="0" lvl="0" indent="0">
              <a:buNone/>
            </a:pPr>
            <a:r>
              <a:t>توقع الربح الإضافي لكل </a:t>
            </a:r>
            <a:r>
              <a:rPr b="1"/>
              <a:t>100,000 وثيقة</a:t>
            </a:r>
            <a:r>
              <a:t>: - </a:t>
            </a:r>
            <a:r>
              <a:rPr b="1"/>
              <a:t>+157 مليون جم</a:t>
            </a:r>
            <a:r>
              <a:t>: توفير مطالبات (عملاء أصحاء) - </a:t>
            </a:r>
            <a:r>
              <a:rPr b="1"/>
              <a:t>+78 مليون جم</a:t>
            </a:r>
            <a:r>
              <a:t>: زيادة احتفاظ (Retention) - </a:t>
            </a:r>
            <a:r>
              <a:rPr b="1"/>
              <a:t>المجموع</a:t>
            </a:r>
            <a:r>
              <a:t>: </a:t>
            </a:r>
            <a:r>
              <a:rPr b="1"/>
              <a:t>~292 مليون جم</a:t>
            </a:r>
            <a:r>
              <a:t> ربح إضافي سنويًا.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🌍 الاستدامة (ESG &amp; Green Economy)</a:t>
            </a:r>
          </a:p>
          <a:p>
            <a:pPr lvl="0"/>
            <a:r>
              <a:rPr b="1"/>
              <a:t>بيئي (E)</a:t>
            </a:r>
            <a:r>
              <a:t>: تقليل دخول المستشفيات = تقليل الانبعاثات (القطاع الصحي 4.4% عالمياً).</a:t>
            </a:r>
          </a:p>
          <a:p>
            <a:pPr lvl="0"/>
            <a:r>
              <a:rPr b="1"/>
              <a:t>مجتمعي (S)</a:t>
            </a:r>
            <a:r>
              <a:t>: تحويل التأمين من “جباية” إلى “شريك صحة”.</a:t>
            </a:r>
          </a:p>
          <a:p>
            <a:pPr lvl="0"/>
            <a:r>
              <a:rPr b="1"/>
              <a:t>عالمي</a:t>
            </a:r>
            <a:r>
              <a:t>: يتماشى مع </a:t>
            </a:r>
            <a:r>
              <a:rPr b="1"/>
              <a:t>رؤية مصر 2030</a:t>
            </a:r>
            <a:r>
              <a:t> والاقتصاد الأخضر.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10: الجاهزية العالمية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🌐 هل العالم جاهز؟</a:t>
            </a:r>
          </a:p>
          <a:p>
            <a:pPr marL="0" lvl="0" indent="0">
              <a:buNone/>
            </a:pPr>
            <a:r>
              <a:t>نعم، نحن في “مقدمة الموجة” (2023-2024): - </a:t>
            </a:r>
            <a:r>
              <a:rPr b="1"/>
              <a:t>إعادة التأمين</a:t>
            </a:r>
            <a:r>
              <a:t>: </a:t>
            </a:r>
            <a:r>
              <a:rPr b="1"/>
              <a:t>Swiss Re</a:t>
            </a:r>
            <a:r>
              <a:t> و </a:t>
            </a:r>
            <a:r>
              <a:rPr b="1"/>
              <a:t>Munich Re</a:t>
            </a:r>
            <a:r>
              <a:t> أصدروا أدلة اكتتاب للساعات الذكية. - </a:t>
            </a:r>
            <a:r>
              <a:rPr b="1"/>
              <a:t>التجارب</a:t>
            </a:r>
            <a:r>
              <a:t>: </a:t>
            </a:r>
            <a:r>
              <a:rPr b="1"/>
              <a:t>SCOR</a:t>
            </a:r>
            <a:r>
              <a:t> بدأت تجارب فعلية في آسيا (2022). - </a:t>
            </a:r>
            <a:r>
              <a:rPr b="1"/>
              <a:t>التكنولوجيا</a:t>
            </a:r>
            <a:r>
              <a:t>: توفرت دقة الساعات (Apple/Samsung) وانخفضت تكلفة التحليل (PhenoAge) الآن فقط.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26" y="58870"/>
            <a:ext cx="8229600" cy="3394472"/>
          </a:xfrm>
        </p:spPr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الشريحة</a:t>
            </a:r>
            <a:r>
              <a:rPr b="1" dirty="0"/>
              <a:t> 11: </a:t>
            </a:r>
            <a:r>
              <a:rPr b="1" dirty="0" err="1"/>
              <a:t>المحددات</a:t>
            </a:r>
            <a:r>
              <a:rPr b="1" dirty="0"/>
              <a:t> </a:t>
            </a:r>
            <a:r>
              <a:rPr b="1" dirty="0" err="1"/>
              <a:t>والتوصيات</a:t>
            </a:r>
            <a:endParaRPr b="1" dirty="0"/>
          </a:p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المحددات</a:t>
            </a:r>
            <a:endParaRPr b="1" dirty="0"/>
          </a:p>
          <a:p>
            <a:pPr lvl="0"/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مقطعية</a:t>
            </a:r>
            <a:r>
              <a:rPr dirty="0"/>
              <a:t> (Cross-sectional)</a:t>
            </a:r>
          </a:p>
          <a:p>
            <a:pPr lvl="0"/>
            <a:r>
              <a:rPr dirty="0" err="1"/>
              <a:t>غياب</a:t>
            </a:r>
            <a:r>
              <a:rPr dirty="0"/>
              <a:t> </a:t>
            </a:r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الوفاة</a:t>
            </a:r>
            <a:r>
              <a:rPr dirty="0"/>
              <a:t> </a:t>
            </a:r>
            <a:r>
              <a:rPr dirty="0" err="1"/>
              <a:t>الفعلية</a:t>
            </a:r>
            <a:endParaRPr dirty="0"/>
          </a:p>
          <a:p>
            <a:pPr lvl="0"/>
            <a:r>
              <a:rPr dirty="0" err="1"/>
              <a:t>التعميم</a:t>
            </a:r>
            <a:r>
              <a:rPr dirty="0"/>
              <a:t> </a:t>
            </a:r>
            <a:r>
              <a:rPr dirty="0" err="1"/>
              <a:t>يحتاج</a:t>
            </a:r>
            <a:r>
              <a:rPr dirty="0"/>
              <a:t> </a:t>
            </a:r>
            <a:r>
              <a:rPr dirty="0" err="1"/>
              <a:t>دراسة</a:t>
            </a:r>
            <a:r>
              <a:rPr dirty="0"/>
              <a:t> </a:t>
            </a:r>
            <a:r>
              <a:rPr dirty="0" err="1"/>
              <a:t>محلية</a:t>
            </a:r>
            <a:endParaRPr dirty="0"/>
          </a:p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التوصيات</a:t>
            </a:r>
            <a:endParaRPr b="1" dirty="0"/>
          </a:p>
          <a:p>
            <a:pPr lvl="0"/>
            <a:r>
              <a:rPr dirty="0" err="1"/>
              <a:t>دراسة</a:t>
            </a:r>
            <a:r>
              <a:rPr dirty="0"/>
              <a:t> </a:t>
            </a:r>
            <a:r>
              <a:rPr dirty="0" err="1"/>
              <a:t>طولية</a:t>
            </a:r>
            <a:r>
              <a:rPr dirty="0"/>
              <a:t> </a:t>
            </a:r>
            <a:r>
              <a:rPr dirty="0" err="1"/>
              <a:t>مصرية</a:t>
            </a:r>
            <a:endParaRPr dirty="0"/>
          </a:p>
          <a:p>
            <a:pPr lvl="0"/>
            <a:r>
              <a:rPr dirty="0" err="1"/>
              <a:t>التكامل</a:t>
            </a:r>
            <a:r>
              <a:rPr dirty="0"/>
              <a:t> </a:t>
            </a:r>
            <a:r>
              <a:rPr dirty="0" err="1"/>
              <a:t>مع</a:t>
            </a:r>
            <a:r>
              <a:rPr dirty="0"/>
              <a:t> FRA Sandbox</a:t>
            </a:r>
          </a:p>
          <a:p>
            <a:pPr lvl="0"/>
            <a:r>
              <a:rPr dirty="0" err="1"/>
              <a:t>تجربة</a:t>
            </a:r>
            <a:r>
              <a:rPr dirty="0"/>
              <a:t> </a:t>
            </a:r>
            <a:r>
              <a:rPr dirty="0" err="1"/>
              <a:t>ميدانية</a:t>
            </a:r>
            <a:r>
              <a:rPr dirty="0"/>
              <a:t> </a:t>
            </a:r>
            <a:r>
              <a:rPr dirty="0" err="1"/>
              <a:t>مع</a:t>
            </a:r>
            <a:r>
              <a:rPr dirty="0"/>
              <a:t> </a:t>
            </a:r>
            <a:r>
              <a:rPr dirty="0" err="1"/>
              <a:t>شركة</a:t>
            </a:r>
            <a:r>
              <a:rPr dirty="0"/>
              <a:t> </a:t>
            </a:r>
            <a:r>
              <a:rPr dirty="0" err="1"/>
              <a:t>تأمين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الشريحة 12: الخاتمة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الرسالة الأساسية</a:t>
            </a:r>
          </a:p>
          <a:p>
            <a:pPr marL="1270000" lvl="0" indent="0">
              <a:buNone/>
            </a:pPr>
            <a:r>
              <a:rPr sz="2000" b="1"/>
              <a:t>“العمر البيولوجي ليس مجرد مؤشر طبي… بل هو أصل اكتواري يمكن تسعيره.”</a:t>
            </a:r>
          </a:p>
          <a:p>
            <a:pPr marL="0" lvl="0" indent="0">
              <a:buNone/>
            </a:pPr>
            <a:r>
              <a:rPr b="1"/>
              <a:t>شكراً لحسن استماعكم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ملحق: كيفية التحويل إلى PowerPoint</a:t>
            </a:r>
          </a:p>
          <a:p>
            <a:pPr marL="342900" lvl="0" indent="-342900">
              <a:buAutoNum type="arabicPeriod"/>
            </a:pPr>
            <a:r>
              <a:t>انسخ هذا الملف إلى </a:t>
            </a:r>
            <a:r>
              <a:rPr>
                <a:hlinkClick r:id="rId2"/>
              </a:rPr>
              <a:t>Marp</a:t>
            </a:r>
            <a:r>
              <a:t> أو </a:t>
            </a:r>
            <a:r>
              <a:rPr>
                <a:hlinkClick r:id="rId3"/>
              </a:rPr>
              <a:t>Slides.com</a:t>
            </a:r>
          </a:p>
          <a:p>
            <a:pPr marL="342900" lvl="0" indent="-342900">
              <a:buAutoNum type="arabicPeriod"/>
            </a:pPr>
            <a:r>
              <a:t>أو استخدم Pandoc: </a:t>
            </a:r>
            <a:r>
              <a:rPr>
                <a:latin typeface="Courier"/>
              </a:rPr>
              <a:t>pandoc Thesis_Presentation.md -o 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On-screen Show (16:9)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</vt:lpstr>
      <vt:lpstr>Office Theme</vt:lpstr>
      <vt:lpstr>📊 عرض تقديمي للمناقشة (Thesis Presentation)</vt:lpstr>
      <vt:lpstr>PowerPoint Presentation</vt:lpstr>
      <vt:lpstr>تحسين التسعير الاكتواري باستخدام العمر البيولوجي والتعلم العميق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Ahmed eltaweel</cp:lastModifiedBy>
  <cp:revision>1</cp:revision>
  <dcterms:created xsi:type="dcterms:W3CDTF">2025-12-08T14:47:11Z</dcterms:created>
  <dcterms:modified xsi:type="dcterms:W3CDTF">2025-12-08T15:00:57Z</dcterms:modified>
</cp:coreProperties>
</file>